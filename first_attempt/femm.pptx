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256" r:id="rId4"/>
    <p:sldId id="257" r:id="rId6"/>
    <p:sldId id="269" r:id="rId7"/>
    <p:sldId id="258" r:id="rId8"/>
    <p:sldId id="266" r:id="rId9"/>
    <p:sldId id="261" r:id="rId10"/>
    <p:sldId id="267" r:id="rId11"/>
    <p:sldId id="270" r:id="rId12"/>
    <p:sldId id="263" r:id="rId13"/>
    <p:sldId id="262" r:id="rId14"/>
    <p:sldId id="272" r:id="rId15"/>
    <p:sldId id="271" r:id="rId16"/>
    <p:sldId id="264" r:id="rId17"/>
    <p:sldId id="273" r:id="rId18"/>
    <p:sldId id="268" r:id="rId19"/>
    <p:sldId id="260" r:id="rId20"/>
  </p:sldIdLst>
  <p:sldSz cx="10080625" cy="7559675"/>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5"/>
    <p:restoredTop sz="94631"/>
  </p:normalViewPr>
  <p:slideViewPr>
    <p:cSldViewPr showGuides="1">
      <p:cViewPr varScale="1">
        <p:scale>
          <a:sx n="71" d="100"/>
          <a:sy n="71" d="100"/>
        </p:scale>
        <p:origin x="1579" y="53"/>
      </p:cViewPr>
      <p:guideLst>
        <p:guide orient="horz" pos="2160"/>
        <p:guide pos="2858"/>
      </p:guideLst>
    </p:cSldViewPr>
  </p:slideViewPr>
  <p:outlineViewPr>
    <p:cViewPr varScale="1">
      <p:scale>
        <a:sx n="170" d="200"/>
        <a:sy n="170" d="2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p:cNvSpPr>
            <a:spLocks noGrp="1" noRot="1" noChangeAspect="1"/>
          </p:cNvSpPr>
          <p:nvPr>
            <p:ph type="sldImg"/>
          </p:nvPr>
        </p:nvSpPr>
        <p:spPr>
          <a:xfrm>
            <a:off x="215900" y="812800"/>
            <a:ext cx="7126288" cy="4006850"/>
          </a:xfrm>
          <a:prstGeom prst="rect">
            <a:avLst/>
          </a:prstGeom>
          <a:noFill/>
          <a:ln w="9525">
            <a:noFill/>
          </a:ln>
        </p:spPr>
      </p:sp>
      <p:sp>
        <p:nvSpPr>
          <p:cNvPr id="2" name="Rectangle 2"/>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lstStyle/>
          <a:p>
            <a:pPr marL="0" marR="0" lvl="0" indent="0" algn="l" defTabSz="44958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a:pPr>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6" charset="0"/>
              <a:ea typeface="+mn-ea"/>
              <a:cs typeface="+mn-cs"/>
            </a:endParaRPr>
          </a:p>
        </p:txBody>
      </p:sp>
      <p:sp>
        <p:nvSpPr>
          <p:cNvPr id="3075" name="Rectangle 3"/>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6" name="Rectangle 4"/>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7" name="Rectangle 5"/>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8" name="Rectangle 6"/>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lstStyle/>
          <a:p>
            <a:pPr lvl="0" algn="r" defTabSz="457200" eaLnBrk="1" hangingPunct="1">
              <a:lnSpc>
                <a:spcPct val="93000"/>
              </a:lnSpc>
              <a:buClr>
                <a:srgbClr val="000000"/>
              </a:buClr>
              <a:buSzPct val="100000"/>
              <a:buFont typeface="Times New Roman" panose="02020603050405020304" pitchFamily="16" charset="0"/>
              <a:buNone/>
              <a:tabLst>
                <a:tab pos="449580" algn="l"/>
                <a:tab pos="898525" algn="l"/>
                <a:tab pos="1348105" algn="l"/>
                <a:tab pos="1797050" algn="l"/>
                <a:tab pos="2246630" algn="l"/>
                <a:tab pos="2695575" algn="l"/>
                <a:tab pos="3145155" algn="l"/>
              </a:tabLst>
            </a:pPr>
            <a:fld id="{9A0DB2DC-4C9A-4742-B13C-FB6460FD3503}" type="slidenum">
              <a:rPr lang="en-IN" altLang="en-US" sz="1400" dirty="0">
                <a:solidFill>
                  <a:srgbClr val="000000"/>
                </a:solidFill>
                <a:latin typeface="Times New Roman" panose="02020603050405020304" pitchFamily="16" charset="0"/>
                <a:cs typeface="DejaVu Sans" charset="0"/>
              </a:rPr>
            </a:fld>
            <a:endParaRPr lang="en-IN" altLang="en-US" sz="1400" dirty="0">
              <a:solidFill>
                <a:srgbClr val="000000"/>
              </a:solidFill>
              <a:latin typeface="Times New Roman" panose="02020603050405020304" pitchFamily="16" charset="0"/>
              <a:ea typeface="DejaVu Sans" charset="0"/>
              <a:cs typeface="DejaVu Sans" charset="0"/>
            </a:endParaRPr>
          </a:p>
        </p:txBody>
      </p:sp>
    </p:spTree>
  </p:cSld>
  <p:clrMap bg1="lt1" tx1="dk1" bg2="lt2" tx2="dk2" accent1="accent1" accent2="accent2" accent3="accent3" accent4="accent4" accent5="accent5" accent6="accent6" hlink="hlink" folHlink="folHlink"/>
  <p:hf sldNum="0" hdr="0" ftr="0" dt="0"/>
  <p:notesStyle>
    <a:lvl1pPr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9219" name="Rectangle 1"/>
          <p:cNvSpPr>
            <a:spLocks noGrp="1" noRot="1" noChangeAspect="1"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9220"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1267" name="Rectangle 1"/>
          <p:cNvSpPr>
            <a:spLocks noGrp="1" noRot="1" noChangeAspect="1"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1126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4339"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4340"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638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638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843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8436"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355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3556"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5603"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5604"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9699"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9700"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lstStyle/>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174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1748" name="Rectangle 2"/>
          <p:cNvSpPr>
            <a:spLocks noGrp="1"/>
          </p:cNvSpPr>
          <p:nvPr>
            <p:ph type="body" idx="1"/>
          </p:nvPr>
        </p:nvSpPr>
        <p:spPr>
          <a:xfrm>
            <a:off x="755650" y="5078413"/>
            <a:ext cx="6048375" cy="4811712"/>
          </a:xfrm>
        </p:spPr>
        <p:txBody>
          <a:bodyPr wrap="none" lIns="0" tIns="0" rIns="0" bIns="0" anchor="ctr" anchorCtr="0"/>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26B3BA4-C8A1-4DFD-B164-0004239C2298}"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104B677-C32C-4EF5-8650-7E4BD9FE631B}"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3BA2F903-E81D-4847-837F-83149DD71553}"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26B3BA4-C8A1-4DFD-B164-0004239C2298}"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104B677-C32C-4EF5-8650-7E4BD9FE631B}"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3BA2F903-E81D-4847-837F-83149DD71553}"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p>
            <a:pPr algn="r" eaLnBrk="1" hangingPunct="1">
              <a:buNone/>
            </a:pPr>
            <a:fld id="{9A0DB2DC-4C9A-4742-B13C-FB6460FD3503}" type="slidenum">
              <a:rPr lang="en-US" dirty="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lstStyle/>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lstStyle/>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FemAI: </a:t>
            </a:r>
            <a:r>
              <a:rPr kumimoji="0" lang="en-US" altLang="en-GB"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An Intelligent PCOS Screening and Lifestyle Guidance Platform</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endParaRPr kumimoji="0" lang="en-IN" altLang="en-US" sz="36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Nishigandha Sawant (23107047)</a:t>
            </a:r>
            <a:b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b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Shaily Gupta (23107085)</a:t>
            </a:r>
            <a:b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b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Vaishnavi Jadhav (23107051)</a:t>
            </a:r>
            <a:endParaRPr kumimoji="0" lang="en-IN" altLang="en-US"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2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Project Guide</a:t>
            </a:r>
            <a:endParaRPr kumimoji="0" lang="en-IN" altLang="en-US" sz="2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Ms.</a:t>
            </a:r>
            <a:r>
              <a:rPr kumimoji="0" lang="en-US" altLang="en-IN"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Ujwala Pagare</a:t>
            </a:r>
            <a:r>
              <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endPar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p:txBody>
      </p:sp>
      <p:cxnSp>
        <p:nvCxnSpPr>
          <p:cNvPr id="3" name="Straight Connector 2"/>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p:cNvPicPr>
            <a:picLocks noChangeAspect="1"/>
          </p:cNvPicPr>
          <p:nvPr/>
        </p:nvPicPr>
        <p:blipFill>
          <a:blip r:embed="rId1"/>
          <a:stretch>
            <a:fillRect/>
          </a:stretch>
        </p:blipFill>
        <p:spPr>
          <a:xfrm>
            <a:off x="1079500" y="146050"/>
            <a:ext cx="7686675" cy="1571625"/>
          </a:xfrm>
          <a:prstGeom prst="rect">
            <a:avLst/>
          </a:prstGeom>
          <a:noFill/>
          <a:ln w="9525">
            <a:noFill/>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p:nvPr/>
        </p:nvSpPr>
        <p:spPr>
          <a:xfrm>
            <a:off x="504825" y="144463"/>
            <a:ext cx="9070975" cy="1057275"/>
          </a:xfrm>
          <a:prstGeom prst="rect">
            <a:avLst/>
          </a:prstGeom>
          <a:noFill/>
          <a:ln w="9525">
            <a:noFill/>
          </a:ln>
        </p:spPr>
        <p:txBody>
          <a:bodyPr lIns="0" tIns="31680" rIns="0" bIns="0" anchor="ctr" anchorCtr="0"/>
          <a:lstStyle/>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Outline</a:t>
            </a:r>
            <a:endParaRPr lang="en-IN" altLang="en-US" sz="3600" b="1" dirty="0">
              <a:solidFill>
                <a:srgbClr val="000000"/>
              </a:solidFill>
              <a:latin typeface="Times New Roman" panose="02020603050405020304" pitchFamily="16" charset="0"/>
              <a:ea typeface="DejaVu Sans" charset="0"/>
            </a:endParaRPr>
          </a:p>
        </p:txBody>
      </p:sp>
      <p:sp>
        <p:nvSpPr>
          <p:cNvPr id="10243" name="Rectangle 2"/>
          <p:cNvSpPr/>
          <p:nvPr/>
        </p:nvSpPr>
        <p:spPr>
          <a:xfrm>
            <a:off x="504825" y="1236663"/>
            <a:ext cx="9323388" cy="5578475"/>
          </a:xfrm>
          <a:prstGeom prst="rect">
            <a:avLst/>
          </a:prstGeom>
          <a:noFill/>
          <a:ln w="9525">
            <a:noFill/>
          </a:ln>
        </p:spPr>
        <p:txBody>
          <a:bodyPr lIns="0" tIns="21240" rIns="0" bIns="0"/>
          <a:lstStyle/>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Introduction</a:t>
            </a:r>
            <a:r>
              <a:rPr lang="en-US" altLang="en-IN" sz="2400" dirty="0">
                <a:latin typeface="Trebuchet MS" panose="020B0603020202020204" pitchFamily="34" charset="0"/>
              </a:rPr>
              <a:t> -&gt; Motivation</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Literature </a:t>
            </a:r>
            <a:r>
              <a:rPr lang="en-US" altLang="en-IN" sz="2400" dirty="0">
                <a:latin typeface="Trebuchet MS" panose="020B0603020202020204" pitchFamily="34" charset="0"/>
              </a:rPr>
              <a:t>Review</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IN" sz="2400" dirty="0">
                <a:latin typeface="Trebuchet MS" panose="020B0603020202020204" pitchFamily="34" charset="0"/>
              </a:rPr>
              <a:t>Research Gaps</a:t>
            </a:r>
            <a:r>
              <a:rPr lang="en-IN" altLang="en-US" sz="2400" dirty="0">
                <a:latin typeface="Trebuchet MS" panose="020B0603020202020204" pitchFamily="34" charset="0"/>
              </a:rPr>
              <a:t> </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Objectives</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Problem Definition </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Methodology/ Workflow/ Architecture Diagram</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Performance Evaluation/ Results &amp; Discussions</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Conclusion</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References</a:t>
            </a:r>
            <a:endParaRPr lang="en-IN" altLang="en-US" sz="2400" dirty="0">
              <a:solidFill>
                <a:srgbClr val="000000"/>
              </a:solidFill>
              <a:latin typeface="Times New Roman" panose="02020603050405020304" pitchFamily="16" charset="0"/>
              <a:ea typeface="DejaVu Sans"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IN" sz="3970" b="0" i="0" u="none" strike="noStrike" kern="1200" cap="none" spc="0" normalizeH="0" baseline="0" noProof="0" dirty="0">
                <a:ln>
                  <a:noFill/>
                </a:ln>
                <a:solidFill>
                  <a:schemeClr val="tx1"/>
                </a:solidFill>
                <a:effectLst/>
                <a:uLnTx/>
                <a:uFillTx/>
                <a:latin typeface="+mj-lt"/>
                <a:ea typeface="+mj-ea"/>
                <a:cs typeface="+mj-cs"/>
              </a:rPr>
              <a:t>Sustainable Development Goals (SDG) mapped</a:t>
            </a:r>
            <a:endParaRPr kumimoji="0" lang="en-IN" sz="3970" b="0" i="0" u="none" strike="noStrike" kern="1200" cap="none" spc="0" normalizeH="0" baseline="0" noProof="0" dirty="0">
              <a:ln>
                <a:noFill/>
              </a:ln>
              <a:solidFill>
                <a:schemeClr val="tx1"/>
              </a:solidFill>
              <a:effectLst/>
              <a:uLnTx/>
              <a:uFillTx/>
              <a:latin typeface="+mj-lt"/>
              <a:ea typeface="+mj-ea"/>
              <a:cs typeface="+mj-cs"/>
            </a:endParaRPr>
          </a:p>
        </p:txBody>
      </p:sp>
      <p:sp>
        <p:nvSpPr>
          <p:cNvPr id="12291" name="Content Placeholder 4"/>
          <p:cNvSpPr>
            <a:spLocks noGrp="1"/>
          </p:cNvSpPr>
          <p:nvPr>
            <p:ph idx="1"/>
          </p:nvPr>
        </p:nvSpPr>
        <p:spPr>
          <a:xfrm>
            <a:off x="671513" y="2127250"/>
            <a:ext cx="8256587" cy="5037138"/>
          </a:xfrm>
        </p:spPr>
        <p:txBody>
          <a:bodyPr vert="horz" wrap="square" lIns="91440" tIns="45720" rIns="91440" bIns="45720" anchor="t" anchorCtr="0"/>
          <a:lstStyle/>
          <a:p>
            <a:r>
              <a:rPr lang="en-IN" altLang="en-US" dirty="0"/>
              <a:t>SDG</a:t>
            </a:r>
            <a:r>
              <a:rPr lang="en-US" altLang="en-IN" dirty="0"/>
              <a:t> 3</a:t>
            </a:r>
            <a:r>
              <a:rPr lang="en-IN" altLang="en-US" dirty="0"/>
              <a:t> : </a:t>
            </a:r>
            <a:r>
              <a:rPr lang="en-US" altLang="en-GB" dirty="0"/>
              <a:t>Good Health and Well-being</a:t>
            </a:r>
            <a:endParaRPr lang="en-US" altLang="en-GB" dirty="0"/>
          </a:p>
          <a:p>
            <a:r>
              <a:rPr lang="en-US" altLang="en-GB" dirty="0"/>
              <a:t>FemAI promotes proactive healthcare by providing an accessible, early screening tool for PCOS. By bridging the gap between diagnosis and management through personalized lifestyle and dietary guidance, it directly improves health outcomes and well-being for women.</a:t>
            </a:r>
            <a:endParaRPr lang="en-US" altLang="en-GB" dirty="0"/>
          </a:p>
          <a:p>
            <a:r>
              <a:rPr lang="en-US" altLang="en-GB" dirty="0"/>
              <a:t>SDG 5: Gender Equality, SDG 9: Industry, Innovation and Infrastructure</a:t>
            </a:r>
            <a:endParaRPr lang="en-US" altLang="en-GB" dirty="0"/>
          </a:p>
        </p:txBody>
      </p:sp>
      <p:pic>
        <p:nvPicPr>
          <p:cNvPr id="12292" name="Picture 2" descr="The role of artificial intelligence in achieving the Sustainable  Development Goals | Nature Communications"/>
          <p:cNvPicPr>
            <a:picLocks noChangeAspect="1"/>
          </p:cNvPicPr>
          <p:nvPr/>
        </p:nvPicPr>
        <p:blipFill>
          <a:blip r:embed="rId1"/>
          <a:stretch>
            <a:fillRect/>
          </a:stretch>
        </p:blipFill>
        <p:spPr>
          <a:xfrm>
            <a:off x="936625" y="4356100"/>
            <a:ext cx="7643813" cy="2376488"/>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Introduction</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 name="Content Placeholder 2"/>
          <p:cNvSpPr txBox="1"/>
          <p:nvPr/>
        </p:nvSpPr>
        <p:spPr bwMode="auto">
          <a:xfrm>
            <a:off x="412750" y="1563688"/>
            <a:ext cx="9251950" cy="5535613"/>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Context: Polycystic Ovary Syndrome (PCOS) affects approximately 1 in 10 women globally, yet remains highly underdiagnosed due to complex clinical symptoms.</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Current Reality: Initial screening often relies on expensive, time-consuming clinical lab tests or subjective symptom tracking.</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Motivation: To bridge the gap between clinical data and accessible early detection by leveraging Machine Learning.</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Vision: Empower women with a proactive, privacy-centric screening tool that not only flags risks but provides immediate, actionable lifestyle interventions.</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US" sz="2000" b="1"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en-US" sz="2000" b="1"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Literature </a:t>
            </a: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Review</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8435" name="Rectangle 2"/>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Traditional ML Diagnostic Models: Existing studies predominantly use standard classifiers (SVM, KNN) but suffer from severe class imbalance, leading to high false-negative rates.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Commercial Health Tracking Apps: Platforms like Flo or Clue focus on cycle tracking but lack predictive clinical intelligence for hormonal disorders.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"Black-Box" AI in Healthcare: Most academic projects output a binary "Positive/Negative" result without providing the physiological reasoning required for medical trust.</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Post-Diagnosis Gap: Existing systems stop at risk prediction, leaving users without immediate guidance on symptom management.</a:t>
            </a:r>
            <a:r>
              <a:rPr kumimoji="0" lang="en-US" altLang="en-US" sz="2000" b="0" i="0" u="none" strike="noStrike" kern="1200" cap="none" spc="0" normalizeH="0" baseline="0" noProof="0" dirty="0">
                <a:ln>
                  <a:noFill/>
                </a:ln>
                <a:solidFill>
                  <a:prstClr val="black"/>
                </a:solidFill>
                <a:effectLst/>
                <a:uLnTx/>
                <a:uFillTx/>
                <a:latin typeface="Source Sans Pro" pitchFamily="34" charset="0"/>
                <a:ea typeface="+mn-ea"/>
                <a:cs typeface="+mn-cs"/>
              </a:rPr>
              <a:t> </a:t>
            </a:r>
            <a:r>
              <a:rPr kumimoji="0" lang="en-IN" altLang="en-US" sz="2000" b="0" i="1" u="none" strike="noStrike" kern="1200" cap="none" spc="0" normalizeH="0" baseline="0" noProof="0" dirty="0">
                <a:ln>
                  <a:noFill/>
                </a:ln>
                <a:solidFill>
                  <a:srgbClr val="FF0000"/>
                </a:solidFill>
                <a:effectLst/>
                <a:uLnTx/>
                <a:uFillTx/>
                <a:latin typeface="Times New Roman" panose="02020603050405020304" pitchFamily="16" charset="0"/>
                <a:ea typeface="+mn-ea"/>
                <a:cs typeface="Times New Roman" panose="02020603050405020304" pitchFamily="16" charset="0"/>
              </a:rPr>
              <a:t>		</a:t>
            </a:r>
            <a:endParaRPr kumimoji="0" lang="en-IN" altLang="en-US" sz="20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a:t>
            </a: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Research Gaps </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17411" name="Rectangle 2"/>
          <p:cNvSpPr/>
          <p:nvPr/>
        </p:nvSpPr>
        <p:spPr>
          <a:xfrm>
            <a:off x="503238" y="1768475"/>
            <a:ext cx="9070975" cy="4989513"/>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graphicFrame>
        <p:nvGraphicFramePr>
          <p:cNvPr id="2" name="Table 1"/>
          <p:cNvGraphicFramePr/>
          <p:nvPr/>
        </p:nvGraphicFramePr>
        <p:xfrm>
          <a:off x="648335" y="1691640"/>
          <a:ext cx="7056120" cy="1524000"/>
        </p:xfrm>
        <a:graphic>
          <a:graphicData uri="http://schemas.openxmlformats.org/drawingml/2006/table">
            <a:tbl>
              <a:tblPr firstRow="1" bandRow="1">
                <a:tableStyleId>{5C22544A-7EE6-4342-B048-85BDC9FD1C3A}</a:tableStyleId>
              </a:tblPr>
              <a:tblGrid>
                <a:gridCol w="3528060"/>
                <a:gridCol w="3528060"/>
              </a:tblGrid>
              <a:tr h="381000">
                <a:tc>
                  <a:txBody>
                    <a:bodyPr/>
                    <a:p>
                      <a:pPr>
                        <a:buNone/>
                      </a:pPr>
                      <a:r>
                        <a:rPr lang="en-US" altLang="en-GB">
                          <a:latin typeface="Times New Roman" panose="02020603050405020304" pitchFamily="16" charset="0"/>
                          <a:cs typeface="Times New Roman" panose="02020603050405020304" pitchFamily="16" charset="0"/>
                        </a:rPr>
                        <a:t>Research Gap</a:t>
                      </a:r>
                      <a:endParaRPr lang="en-US" altLang="en-GB">
                        <a:latin typeface="Times New Roman" panose="02020603050405020304" pitchFamily="16" charset="0"/>
                        <a:cs typeface="Times New Roman" panose="02020603050405020304" pitchFamily="16" charset="0"/>
                      </a:endParaRPr>
                    </a:p>
                  </a:txBody>
                  <a:tcPr/>
                </a:tc>
                <a:tc>
                  <a:txBody>
                    <a:bodyPr/>
                    <a:p>
                      <a:pPr>
                        <a:buNone/>
                      </a:pPr>
                      <a:r>
                        <a:rPr lang="en-US" altLang="en-GB">
                          <a:latin typeface="Times New Roman" panose="02020603050405020304" pitchFamily="16" charset="0"/>
                          <a:cs typeface="Times New Roman" panose="02020603050405020304" pitchFamily="16" charset="0"/>
                        </a:rPr>
                        <a:t>Description</a:t>
                      </a:r>
                      <a:endParaRPr lang="en-US" altLang="en-GB">
                        <a:latin typeface="Times New Roman" panose="02020603050405020304" pitchFamily="16" charset="0"/>
                        <a:cs typeface="Times New Roman" panose="02020603050405020304" pitchFamily="16" charset="0"/>
                      </a:endParaRPr>
                    </a:p>
                  </a:txBody>
                  <a:tcPr/>
                </a:tc>
              </a:tr>
              <a:tr h="381000">
                <a:tc>
                  <a:txBody>
                    <a:bodyPr/>
                    <a:p>
                      <a:pPr>
                        <a:buNone/>
                      </a:pPr>
                      <a:r>
                        <a:rPr lang="en-US" altLang="en-GB">
                          <a:latin typeface="Times New Roman" panose="02020603050405020304" pitchFamily="16" charset="0"/>
                          <a:cs typeface="Times New Roman" panose="02020603050405020304" pitchFamily="16" charset="0"/>
                        </a:rPr>
                        <a:t>Data Bias</a:t>
                      </a:r>
                      <a:endParaRPr lang="en-US" altLang="en-GB">
                        <a:latin typeface="Times New Roman" panose="02020603050405020304" pitchFamily="16" charset="0"/>
                        <a:cs typeface="Times New Roman" panose="02020603050405020304" pitchFamily="16" charset="0"/>
                      </a:endParaRPr>
                    </a:p>
                  </a:txBody>
                  <a:tcPr/>
                </a:tc>
                <a:tc>
                  <a:txBody>
                    <a:bodyPr/>
                    <a:p>
                      <a:pPr>
                        <a:buNone/>
                      </a:pPr>
                      <a:r>
                        <a:rPr lang="en-US" altLang="en-GB">
                          <a:latin typeface="Times New Roman" panose="02020603050405020304" pitchFamily="16" charset="0"/>
                          <a:cs typeface="Times New Roman" panose="02020603050405020304" pitchFamily="16" charset="0"/>
                        </a:rPr>
                        <a:t>Failure of existing models to mathematically address the minority class (PCOS positive cases) in medical datasets.</a:t>
                      </a:r>
                      <a:endParaRPr lang="en-US" altLang="en-GB">
                        <a:latin typeface="Times New Roman" panose="02020603050405020304" pitchFamily="16" charset="0"/>
                        <a:cs typeface="Times New Roman" panose="02020603050405020304" pitchFamily="16" charset="0"/>
                      </a:endParaRPr>
                    </a:p>
                  </a:txBody>
                  <a:tcPr/>
                </a:tc>
              </a:tr>
              <a:tr h="381000">
                <a:tc>
                  <a:txBody>
                    <a:bodyPr/>
                    <a:p>
                      <a:pPr>
                        <a:buNone/>
                      </a:pPr>
                      <a:r>
                        <a:rPr lang="en-US" altLang="en-GB">
                          <a:latin typeface="Times New Roman" panose="02020603050405020304" pitchFamily="16" charset="0"/>
                          <a:cs typeface="Times New Roman" panose="02020603050405020304" pitchFamily="16" charset="0"/>
                        </a:rPr>
                        <a:t>Lack of Explainability</a:t>
                      </a:r>
                      <a:endParaRPr lang="en-US" altLang="en-GB">
                        <a:latin typeface="Times New Roman" panose="02020603050405020304" pitchFamily="16" charset="0"/>
                        <a:cs typeface="Times New Roman" panose="02020603050405020304" pitchFamily="16" charset="0"/>
                      </a:endParaRPr>
                    </a:p>
                  </a:txBody>
                  <a:tcPr/>
                </a:tc>
                <a:tc>
                  <a:txBody>
                    <a:bodyPr/>
                    <a:p>
                      <a:pPr>
                        <a:buNone/>
                      </a:pPr>
                      <a:r>
                        <a:rPr lang="en-US" altLang="en-GB">
                          <a:latin typeface="Times New Roman" panose="02020603050405020304" pitchFamily="16" charset="0"/>
                          <a:cs typeface="Times New Roman" panose="02020603050405020304" pitchFamily="16" charset="0"/>
                        </a:rPr>
                        <a:t>Absence of transparent AI mechanisms that can tell a patient or doctor why a specific prediction was made.   </a:t>
                      </a:r>
                      <a:endParaRPr lang="en-US" altLang="en-GB">
                        <a:latin typeface="Times New Roman" panose="02020603050405020304" pitchFamily="16" charset="0"/>
                        <a:cs typeface="Times New Roman" panose="02020603050405020304" pitchFamily="16" charset="0"/>
                      </a:endParaRPr>
                    </a:p>
                  </a:txBody>
                  <a:tcPr/>
                </a:tc>
              </a:tr>
              <a:tr h="381000">
                <a:tc>
                  <a:txBody>
                    <a:bodyPr/>
                    <a:p>
                      <a:pPr>
                        <a:buNone/>
                      </a:pPr>
                      <a:r>
                        <a:rPr lang="en-US" altLang="en-GB">
                          <a:latin typeface="Times New Roman" panose="02020603050405020304" pitchFamily="16" charset="0"/>
                          <a:cs typeface="Times New Roman" panose="02020603050405020304" pitchFamily="16" charset="0"/>
                        </a:rPr>
                        <a:t>Fragmented Ecosystems</a:t>
                      </a:r>
                      <a:endParaRPr lang="en-US" altLang="en-GB">
                        <a:latin typeface="Times New Roman" panose="02020603050405020304" pitchFamily="16" charset="0"/>
                        <a:cs typeface="Times New Roman" panose="02020603050405020304" pitchFamily="16" charset="0"/>
                      </a:endParaRPr>
                    </a:p>
                  </a:txBody>
                  <a:tcPr/>
                </a:tc>
                <a:tc>
                  <a:txBody>
                    <a:bodyPr/>
                    <a:p>
                      <a:pPr>
                        <a:buNone/>
                      </a:pPr>
                      <a:r>
                        <a:rPr lang="en-US" altLang="en-GB">
                          <a:latin typeface="Times New Roman" panose="02020603050405020304" pitchFamily="16" charset="0"/>
                          <a:cs typeface="Times New Roman" panose="02020603050405020304" pitchFamily="16" charset="0"/>
                        </a:rPr>
                        <a:t>The disconnect between predictive diagnosis and personalized therapeutic action (diet and exercise).</a:t>
                      </a:r>
                      <a:endParaRPr lang="en-US" altLang="en-GB">
                        <a:latin typeface="Times New Roman" panose="02020603050405020304" pitchFamily="16" charset="0"/>
                        <a:cs typeface="Times New Roman" panose="02020603050405020304" pitchFamily="16" charset="0"/>
                      </a:endParaRPr>
                    </a:p>
                  </a:txBody>
                  <a:tcPr/>
                </a:tc>
              </a:tr>
            </a:tbl>
          </a:graphicData>
        </a:graphic>
      </p:graphicFrame>
    </p:spTree>
  </p:cSld>
  <p:clrMapOvr>
    <a:overrideClrMapping bg1="lt1" tx1="dk1" bg2="lt2" tx2="dk2" accent1="accent1" accent2="accent2" accent3="accent3" accent4="accent4" accent5="accent5" accent6="accent6" hlink="hlink" folHlink="folHlink"/>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023" y="125058"/>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Objectives</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3" name="Content Placeholder 2"/>
          <p:cNvSpPr>
            <a:spLocks noGrp="1"/>
          </p:cNvSpPr>
          <p:nvPr>
            <p:ph idx="1"/>
          </p:nvPr>
        </p:nvSpPr>
        <p:spPr>
          <a:xfrm>
            <a:off x="232215" y="1115541"/>
            <a:ext cx="8640763" cy="5616575"/>
          </a:xfrm>
        </p:spPr>
        <p:txBody>
          <a:bodyPr vert="horz" wrap="square" lIns="91440" tIns="45720" rIns="91440" bIns="45720" numCol="1" anchor="t" anchorCtr="0" compatLnSpc="1"/>
          <a:lstStyle/>
          <a:p>
            <a:pPr marL="342900" lvl="0" indent="-342900" algn="just" defTabSz="914400">
              <a:spcBef>
                <a:spcPct val="20000"/>
              </a:spcBef>
              <a:buClrTx/>
              <a:buSzTx/>
              <a:buFont typeface="Arial" panose="020B0604020202020204" pitchFamily="34" charset="0"/>
              <a:buChar char="•"/>
              <a:defRPr/>
            </a:pPr>
            <a:r>
              <a:rPr lang="en-US" altLang="en-GB" sz="2000" dirty="0">
                <a:solidFill>
                  <a:prstClr val="black"/>
                </a:solidFill>
                <a:latin typeface="Times New Roman" panose="02020603050405020304" pitchFamily="16" charset="0"/>
                <a:cs typeface="Times New Roman" panose="02020603050405020304" pitchFamily="16" charset="0"/>
              </a:rPr>
              <a:t>Early Risk Screening: Develop an ML-based prototype to identify patterns associated with PCOS using available health and lifestyle information.</a:t>
            </a:r>
            <a:endParaRPr lang="en-US" altLang="en-GB" sz="2000" dirty="0">
              <a:solidFill>
                <a:prstClr val="black"/>
              </a:solidFill>
              <a:latin typeface="Times New Roman" panose="02020603050405020304" pitchFamily="16" charset="0"/>
              <a:cs typeface="Times New Roman" panose="02020603050405020304" pitchFamily="16" charset="0"/>
            </a:endParaRPr>
          </a:p>
          <a:p>
            <a:pPr marL="0" lvl="0" indent="0" algn="just" defTabSz="914400">
              <a:spcBef>
                <a:spcPct val="20000"/>
              </a:spcBef>
              <a:buClrTx/>
              <a:buSzTx/>
              <a:buNone/>
              <a:defRPr/>
            </a:pPr>
            <a:endParaRPr lang="en-US" altLang="en-GB" sz="2000" dirty="0">
              <a:solidFill>
                <a:prstClr val="black"/>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defRPr/>
            </a:pPr>
            <a:r>
              <a:rPr lang="en-US" altLang="en-GB" sz="2000" dirty="0">
                <a:solidFill>
                  <a:prstClr val="black"/>
                </a:solidFill>
                <a:latin typeface="Times New Roman" panose="02020603050405020304" pitchFamily="16" charset="0"/>
                <a:cs typeface="Times New Roman" panose="02020603050405020304" pitchFamily="16" charset="0"/>
              </a:rPr>
              <a:t>Personalized Insights: Provide users with understandable information based on their reported symptoms and lifestyle factors.</a:t>
            </a:r>
            <a:endParaRPr lang="en-US" altLang="en-GB" sz="2000" dirty="0">
              <a:solidFill>
                <a:prstClr val="black"/>
              </a:solidFill>
              <a:latin typeface="Times New Roman" panose="02020603050405020304" pitchFamily="16" charset="0"/>
              <a:cs typeface="Times New Roman" panose="02020603050405020304" pitchFamily="16" charset="0"/>
            </a:endParaRPr>
          </a:p>
          <a:p>
            <a:pPr marL="0" lvl="0" indent="0" algn="just" defTabSz="914400">
              <a:spcBef>
                <a:spcPct val="20000"/>
              </a:spcBef>
              <a:buClrTx/>
              <a:buSzTx/>
              <a:buNone/>
              <a:defRPr/>
            </a:pPr>
            <a:endParaRPr lang="en-US" altLang="en-GB" sz="2000" dirty="0">
              <a:solidFill>
                <a:prstClr val="black"/>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defRPr/>
            </a:pPr>
            <a:r>
              <a:rPr lang="en-US" altLang="en-GB" sz="2000" dirty="0">
                <a:solidFill>
                  <a:prstClr val="black"/>
                </a:solidFill>
                <a:latin typeface="Times New Roman" panose="02020603050405020304" pitchFamily="16" charset="0"/>
                <a:cs typeface="Times New Roman" panose="02020603050405020304" pitchFamily="16" charset="0"/>
              </a:rPr>
              <a:t>Lifestyle Guidance: Suggest general wellness recommendations related to physical activity, nutrition and stress management.</a:t>
            </a:r>
            <a:endParaRPr lang="en-US" altLang="en-GB" sz="2000" dirty="0">
              <a:solidFill>
                <a:prstClr val="black"/>
              </a:solidFill>
              <a:latin typeface="Times New Roman" panose="02020603050405020304" pitchFamily="16" charset="0"/>
              <a:cs typeface="Times New Roman" panose="02020603050405020304" pitchFamily="16" charset="0"/>
            </a:endParaRPr>
          </a:p>
          <a:p>
            <a:pPr marL="0" lvl="0" indent="0" algn="just" defTabSz="914400">
              <a:spcBef>
                <a:spcPct val="20000"/>
              </a:spcBef>
              <a:buClrTx/>
              <a:buSzTx/>
              <a:buNone/>
              <a:defRPr/>
            </a:pPr>
            <a:endParaRPr lang="en-US" altLang="en-GB" sz="2000" dirty="0">
              <a:solidFill>
                <a:prstClr val="black"/>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defRPr/>
            </a:pPr>
            <a:r>
              <a:rPr lang="en-US" altLang="en-GB" sz="2000" dirty="0">
                <a:solidFill>
                  <a:prstClr val="black"/>
                </a:solidFill>
                <a:latin typeface="Times New Roman" panose="02020603050405020304" pitchFamily="16" charset="0"/>
                <a:cs typeface="Times New Roman" panose="02020603050405020304" pitchFamily="16" charset="0"/>
              </a:rPr>
              <a:t> Symptom Awareness: Help users understand common PCOS-associated symptoms and recognize when professional medical advice may be appropriate.</a:t>
            </a:r>
            <a:endParaRPr lang="en-US" altLang="en-GB" sz="2000" dirty="0">
              <a:solidFill>
                <a:prstClr val="black"/>
              </a:solidFill>
              <a:latin typeface="Times New Roman" panose="02020603050405020304" pitchFamily="16" charset="0"/>
              <a:cs typeface="Times New Roman" panose="02020603050405020304" pitchFamily="16" charset="0"/>
            </a:endParaRPr>
          </a:p>
          <a:p>
            <a:pPr marL="0" lvl="0" indent="0" algn="just" defTabSz="914400">
              <a:spcBef>
                <a:spcPct val="20000"/>
              </a:spcBef>
              <a:buClrTx/>
              <a:buSzTx/>
              <a:buNone/>
              <a:defRPr/>
            </a:pPr>
            <a:endParaRPr lang="en-US" altLang="en-GB" sz="2000" dirty="0">
              <a:solidFill>
                <a:prstClr val="black"/>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defRPr/>
            </a:pPr>
            <a:r>
              <a:rPr lang="en-US" altLang="en-GB" sz="2000" dirty="0">
                <a:solidFill>
                  <a:prstClr val="black"/>
                </a:solidFill>
                <a:latin typeface="Times New Roman" panose="02020603050405020304" pitchFamily="16" charset="0"/>
                <a:cs typeface="Times New Roman" panose="02020603050405020304" pitchFamily="16" charset="0"/>
              </a:rPr>
              <a:t>Accessible Healthcare Awareness: Create a user-friendly platform that encourages informed health decisions and consultation with qualified healthcare professionals.</a:t>
            </a:r>
            <a:endParaRPr lang="en-US" altLang="en-GB" sz="2000" dirty="0">
              <a:solidFill>
                <a:prstClr val="black"/>
              </a:solidFill>
              <a:latin typeface="Times New Roman" panose="02020603050405020304" pitchFamily="16" charset="0"/>
              <a:cs typeface="Times New Roman" panose="02020603050405020304" pitchFamily="1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Problem Definition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3" name="Content Placeholder 2"/>
          <p:cNvSpPr>
            <a:spLocks noGrp="1"/>
          </p:cNvSpPr>
          <p:nvPr>
            <p:ph idx="1"/>
          </p:nvPr>
        </p:nvSpPr>
        <p:spPr>
          <a:xfrm>
            <a:off x="215900" y="1763713"/>
            <a:ext cx="8640763" cy="56165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Statement: To design, optimize, and deploy an intelligent, end-to-end machine learning platform that accurately screens for PCOS using clinical and physical markers.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Core Requirement: The system must overcome standard medical data imbalances, provide transparent reasoning for its predictions, and automatically generate tailored lifestyle and nutritional guidance based on the user's specific risk profile.</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Technologies and methodologies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2531" name="Content Placeholder 2"/>
          <p:cNvSpPr txBox="1"/>
          <p:nvPr/>
        </p:nvSpPr>
        <p:spPr>
          <a:xfrm>
            <a:off x="393700" y="1835150"/>
            <a:ext cx="9180513" cy="5608638"/>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0" lvl="0" indent="0" algn="just" defTabSz="914400">
              <a:spcBef>
                <a:spcPct val="20000"/>
              </a:spcBef>
              <a:buClrTx/>
              <a:buSzTx/>
              <a:buFont typeface="Arial" panose="020B0604020202020204" pitchFamily="34" charset="0"/>
              <a:buNone/>
            </a:pPr>
            <a:r>
              <a:rPr lang="en-US" altLang="en-GB" sz="1800" dirty="0">
                <a:solidFill>
                  <a:srgbClr val="000000"/>
                </a:solidFill>
                <a:latin typeface="Source Sans Pro" pitchFamily="34" charset="0"/>
              </a:rPr>
              <a:t>Phase 1: Data Preprocessing &amp; Feature Selection</a:t>
            </a:r>
            <a:endParaRPr lang="en-US" altLang="en-GB" sz="18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Dataset: PCOS-related dataset containing clinical and lifestyle features.</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Technique: Exploratory Data Analysis (EDA), missing-value analysis, categorical encoding, and selection of 10 relevant input features.</a:t>
            </a:r>
            <a:endParaRPr lang="en-US" altLang="en-GB" sz="14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1800" dirty="0">
              <a:solidFill>
                <a:srgbClr val="000000"/>
              </a:solidFill>
              <a:latin typeface="Source Sans Pro" pitchFamily="34" charset="0"/>
            </a:endParaRPr>
          </a:p>
          <a:p>
            <a:pPr marL="0" lvl="0" indent="0" algn="just" defTabSz="914400">
              <a:spcBef>
                <a:spcPct val="20000"/>
              </a:spcBef>
              <a:buClrTx/>
              <a:buSzTx/>
              <a:buFont typeface="Arial" panose="020B0604020202020204" pitchFamily="34" charset="0"/>
              <a:buNone/>
            </a:pPr>
            <a:r>
              <a:rPr lang="en-US" altLang="en-GB" sz="1800" dirty="0">
                <a:solidFill>
                  <a:srgbClr val="000000"/>
                </a:solidFill>
                <a:latin typeface="Source Sans Pro" pitchFamily="34" charset="0"/>
              </a:rPr>
              <a:t>Phase 2: Model Training &amp; Evaluation*</a:t>
            </a:r>
            <a:endParaRPr lang="en-US" altLang="en-GB" sz="18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Model: Trained a Linear Support Vector Machine (SVM) using Scikit-learn.</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Technique: Train-test split and evaluation using accuracy, precision, recall, F1-score, and confusion matrix.</a:t>
            </a:r>
            <a:endParaRPr lang="en-US" altLang="en-GB" sz="14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1800" dirty="0">
              <a:solidFill>
                <a:srgbClr val="000000"/>
              </a:solidFill>
              <a:latin typeface="Source Sans Pro" pitchFamily="34" charset="0"/>
            </a:endParaRPr>
          </a:p>
          <a:p>
            <a:pPr marL="0" lvl="0" indent="0" algn="just" defTabSz="914400">
              <a:spcBef>
                <a:spcPct val="20000"/>
              </a:spcBef>
              <a:buClrTx/>
              <a:buSzTx/>
              <a:buFont typeface="Arial" panose="020B0604020202020204" pitchFamily="34" charset="0"/>
              <a:buNone/>
            </a:pPr>
            <a:r>
              <a:rPr lang="en-US" altLang="en-GB" sz="1800" dirty="0">
                <a:solidFill>
                  <a:srgbClr val="000000"/>
                </a:solidFill>
                <a:latin typeface="Source Sans Pro" pitchFamily="34" charset="0"/>
              </a:rPr>
              <a:t>Phase 3: Risk Prediction &amp; Personalized Wellness*</a:t>
            </a:r>
            <a:endParaRPr lang="en-US" altLang="en-GB" sz="18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Prediction: Uses user-provided health and lifestyle inputs to generate a predicted PCOS risk category.</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Personalization: Provides relevant lifestyle recommendations based on menstrual regularity, stress levels,      	BMI, and other assessment responses.</a:t>
            </a:r>
            <a:endParaRPr lang="en-US" altLang="en-GB" sz="14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1400" dirty="0">
              <a:solidFill>
                <a:srgbClr val="000000"/>
              </a:solidFill>
              <a:latin typeface="Source Sans Pro" pitchFamily="34" charset="0"/>
            </a:endParaRPr>
          </a:p>
          <a:p>
            <a:pPr marL="0" lvl="0" indent="0" algn="just" defTabSz="914400">
              <a:spcBef>
                <a:spcPct val="20000"/>
              </a:spcBef>
              <a:buClrTx/>
              <a:buSzTx/>
              <a:buFont typeface="Arial" panose="020B0604020202020204" pitchFamily="34" charset="0"/>
              <a:buNone/>
            </a:pPr>
            <a:r>
              <a:rPr lang="en-US" altLang="en-GB" sz="1800" dirty="0">
                <a:solidFill>
                  <a:srgbClr val="000000"/>
                </a:solidFill>
                <a:latin typeface="Source Sans Pro" pitchFamily="34" charset="0"/>
              </a:rPr>
              <a:t>Phase 4: System Architecture*</a:t>
            </a:r>
            <a:endParaRPr lang="en-US" altLang="en-GB" sz="18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Frontend: React.js (Vite) / Tailwind CSS (User Interface).</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Backend: Python FastAPI (REST API and Model Serving).</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Core: Scikit-learn LinearSVC model saved using Pickle/Joblib.</a:t>
            </a:r>
            <a:endParaRPr lang="en-US" altLang="en-GB" sz="1400" dirty="0">
              <a:solidFill>
                <a:srgbClr val="000000"/>
              </a:solidFill>
              <a:latin typeface="Source Sans Pro" pitchFamily="34" charset="0"/>
            </a:endParaRPr>
          </a:p>
          <a:p>
            <a:pPr marL="0" lvl="0" indent="457200" algn="just" defTabSz="914400">
              <a:spcBef>
                <a:spcPct val="20000"/>
              </a:spcBef>
              <a:buClrTx/>
              <a:buSzTx/>
              <a:buFont typeface="Arial" panose="020B0604020202020204" pitchFamily="34" charset="0"/>
              <a:buNone/>
            </a:pPr>
            <a:r>
              <a:rPr lang="en-US" altLang="en-GB" sz="1400" dirty="0">
                <a:solidFill>
                  <a:srgbClr val="000000"/>
                </a:solidFill>
                <a:latin typeface="Source Sans Pro" pitchFamily="34" charset="0"/>
              </a:rPr>
              <a:t>Integration: Connects the assessment form, prediction results, and personalized wellness dashboard.</a:t>
            </a:r>
            <a:endParaRPr lang="en-US" altLang="en-GB" sz="14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None/>
            </a:pPr>
            <a:endParaRPr lang="en-GB" altLang="en-US" sz="18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GB" altLang="en-US" sz="18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Performance Evaluation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pic>
        <p:nvPicPr>
          <p:cNvPr id="5" name="Picture 4"/>
          <p:cNvPicPr>
            <a:picLocks noChangeAspect="1"/>
          </p:cNvPicPr>
          <p:nvPr/>
        </p:nvPicPr>
        <p:blipFill>
          <a:blip r:embed="rId1"/>
          <a:stretch>
            <a:fillRect/>
          </a:stretch>
        </p:blipFill>
        <p:spPr>
          <a:xfrm>
            <a:off x="503238" y="1676044"/>
            <a:ext cx="6985346" cy="3466992"/>
          </a:xfrm>
          <a:prstGeom prst="rect">
            <a:avLst/>
          </a:prstGeom>
        </p:spPr>
      </p:pic>
      <p:pic>
        <p:nvPicPr>
          <p:cNvPr id="7" name="Picture 6"/>
          <p:cNvPicPr>
            <a:picLocks noChangeAspect="1"/>
          </p:cNvPicPr>
          <p:nvPr/>
        </p:nvPicPr>
        <p:blipFill>
          <a:blip r:embed="rId2"/>
          <a:stretch>
            <a:fillRect/>
          </a:stretch>
        </p:blipFill>
        <p:spPr>
          <a:xfrm>
            <a:off x="503238" y="5457093"/>
            <a:ext cx="5955658" cy="1803306"/>
          </a:xfrm>
          <a:prstGeom prst="rect">
            <a:avLst/>
          </a:prstGeom>
        </p:spPr>
      </p:pic>
    </p:spTree>
  </p:cSld>
  <p:clrMapOvr>
    <a:overrideClrMapping bg1="lt1" tx1="dk1" bg2="lt2" tx2="dk2" accent1="accent1" accent2="accent2" accent3="accent3" accent4="accent4" accent5="accent5" accent6="accent6" hlink="hlink" folHlink="folHlink"/>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Performance Evaluation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0484" name="TextBox 2"/>
          <p:cNvSpPr txBox="1"/>
          <p:nvPr/>
        </p:nvSpPr>
        <p:spPr>
          <a:xfrm>
            <a:off x="287338" y="1731963"/>
            <a:ext cx="8929687" cy="4215765"/>
          </a:xfrm>
          <a:prstGeom prst="rect">
            <a:avLst/>
          </a:prstGeom>
          <a:noFill/>
          <a:ln w="9525">
            <a:noFill/>
          </a:ln>
        </p:spPr>
        <p:txBody>
          <a:bodyPr>
            <a:spAutoFit/>
          </a:bodyPr>
          <a:lstStyle/>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Comparative Metrics:</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Accuracy: Evaluated overall correctness across all algorithms.</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F1-Score: Prioritized over accuracy to penalize false negatives (missing a sick patient) and false positives. [Insert winning model's F1-Score here].</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SHAP Feature Importance (Insert SHAP summary plot here):</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The model successfully identified Follicle No. (R/L), Cycle Length, and AMH (ng/mL) as the top physiological drivers for PCOS detection.</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Discussion: Implementing SMOTE drastically improved the recall rate for positive cases compared to baseline models.</a:t>
            </a:r>
            <a:endParaRPr lang="en-US" altLang="en-GB"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Conclusion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0484" name="TextBox 2"/>
          <p:cNvSpPr txBox="1"/>
          <p:nvPr/>
        </p:nvSpPr>
        <p:spPr>
          <a:xfrm>
            <a:off x="287338" y="1731963"/>
            <a:ext cx="8929687" cy="3846195"/>
          </a:xfrm>
          <a:prstGeom prst="rect">
            <a:avLst/>
          </a:prstGeom>
          <a:noFill/>
          <a:ln w="9525">
            <a:noFill/>
          </a:ln>
        </p:spPr>
        <p:txBody>
          <a:bodyPr>
            <a:spAutoFit/>
          </a:bodyPr>
          <a:lstStyle/>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Achievement: Successfully engineered a highly accurate, non-invasive PCOS screening tool that outperforms standard "black-box" approaches.</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Clinical Transparency: Proved that utilizing SHAP builds necessary trust by linking predictions to actual medical markers.</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Holistic Approach: Bridged the gap between diagnosis and management by seamlessly integrating personalized lifestyle guidance.</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Future Scope: Integration of Convolutional Neural Networks (CNNs) for automated ultrasound image analysis (Phase 2).</a:t>
            </a:r>
            <a:endParaRPr lang="en-US" altLang="en-GB"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215776" y="-18060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4579" name="Rectangle 2"/>
          <p:cNvSpPr/>
          <p:nvPr/>
        </p:nvSpPr>
        <p:spPr>
          <a:xfrm>
            <a:off x="503238" y="1563688"/>
            <a:ext cx="9070975" cy="5194300"/>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pic>
        <p:nvPicPr>
          <p:cNvPr id="3" name="Picture 2"/>
          <p:cNvPicPr>
            <a:picLocks noChangeAspect="1"/>
          </p:cNvPicPr>
          <p:nvPr/>
        </p:nvPicPr>
        <p:blipFill>
          <a:blip r:embed="rId1"/>
          <a:stretch>
            <a:fillRect/>
          </a:stretch>
        </p:blipFill>
        <p:spPr>
          <a:xfrm>
            <a:off x="227912" y="807768"/>
            <a:ext cx="5472608" cy="2972069"/>
          </a:xfrm>
          <a:prstGeom prst="rect">
            <a:avLst/>
          </a:prstGeom>
        </p:spPr>
      </p:pic>
      <p:sp>
        <p:nvSpPr>
          <p:cNvPr id="4" name="TextBox 3"/>
          <p:cNvSpPr txBox="1"/>
          <p:nvPr/>
        </p:nvSpPr>
        <p:spPr>
          <a:xfrm>
            <a:off x="1727944" y="3779837"/>
            <a:ext cx="2031325" cy="369332"/>
          </a:xfrm>
          <a:prstGeom prst="rect">
            <a:avLst/>
          </a:prstGeom>
          <a:noFill/>
        </p:spPr>
        <p:txBody>
          <a:bodyPr wrap="none" rtlCol="0">
            <a:spAutoFit/>
          </a:bodyPr>
          <a:lstStyle/>
          <a:p>
            <a:r>
              <a:rPr lang="en-US" dirty="0">
                <a:latin typeface="Times New Roman" panose="02020603050405020304" pitchFamily="16" charset="0"/>
                <a:cs typeface="Times New Roman" panose="02020603050405020304" pitchFamily="16" charset="0"/>
              </a:rPr>
              <a:t>Fig 1 : landing page</a:t>
            </a:r>
            <a:endParaRPr lang="en-IN" dirty="0">
              <a:latin typeface="Times New Roman" panose="02020603050405020304" pitchFamily="16" charset="0"/>
              <a:cs typeface="Times New Roman" panose="02020603050405020304" pitchFamily="16" charset="0"/>
            </a:endParaRPr>
          </a:p>
        </p:txBody>
      </p:sp>
      <p:pic>
        <p:nvPicPr>
          <p:cNvPr id="6" name="Picture 5"/>
          <p:cNvPicPr>
            <a:picLocks noChangeAspect="1"/>
          </p:cNvPicPr>
          <p:nvPr/>
        </p:nvPicPr>
        <p:blipFill>
          <a:blip r:embed="rId2"/>
          <a:stretch>
            <a:fillRect/>
          </a:stretch>
        </p:blipFill>
        <p:spPr>
          <a:xfrm>
            <a:off x="3969325" y="3964503"/>
            <a:ext cx="5394832" cy="2972069"/>
          </a:xfrm>
          <a:prstGeom prst="rect">
            <a:avLst/>
          </a:prstGeom>
        </p:spPr>
      </p:pic>
      <p:sp>
        <p:nvSpPr>
          <p:cNvPr id="8" name="TextBox 7"/>
          <p:cNvSpPr txBox="1"/>
          <p:nvPr/>
        </p:nvSpPr>
        <p:spPr>
          <a:xfrm>
            <a:off x="5616376" y="6936572"/>
            <a:ext cx="5093746" cy="369332"/>
          </a:xfrm>
          <a:prstGeom prst="rect">
            <a:avLst/>
          </a:prstGeom>
          <a:noFill/>
        </p:spPr>
        <p:txBody>
          <a:bodyPr wrap="square">
            <a:spAutoFit/>
          </a:bodyPr>
          <a:lstStyle/>
          <a:p>
            <a:r>
              <a:rPr lang="en-US" dirty="0">
                <a:latin typeface="Times New Roman" panose="02020603050405020304" pitchFamily="16" charset="0"/>
                <a:cs typeface="Times New Roman" panose="02020603050405020304" pitchFamily="16" charset="0"/>
              </a:rPr>
              <a:t>Fig 2 : Assessment page</a:t>
            </a:r>
            <a:endParaRPr lang="en-IN" dirty="0">
              <a:latin typeface="Times New Roman" panose="02020603050405020304" pitchFamily="16" charset="0"/>
              <a:cs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03808" y="275052"/>
            <a:ext cx="5579344" cy="3504785"/>
          </a:xfrm>
          <a:prstGeom prst="rect">
            <a:avLst/>
          </a:prstGeom>
        </p:spPr>
      </p:pic>
      <p:sp>
        <p:nvSpPr>
          <p:cNvPr id="4" name="TextBox 3"/>
          <p:cNvSpPr txBox="1"/>
          <p:nvPr/>
        </p:nvSpPr>
        <p:spPr>
          <a:xfrm>
            <a:off x="2520032" y="3791391"/>
            <a:ext cx="1300356" cy="369332"/>
          </a:xfrm>
          <a:prstGeom prst="rect">
            <a:avLst/>
          </a:prstGeom>
          <a:noFill/>
        </p:spPr>
        <p:txBody>
          <a:bodyPr wrap="none" rtlCol="0">
            <a:spAutoFit/>
          </a:bodyPr>
          <a:lstStyle/>
          <a:p>
            <a:r>
              <a:rPr lang="en-US" dirty="0">
                <a:latin typeface="Times New Roman" panose="02020603050405020304" pitchFamily="16" charset="0"/>
                <a:cs typeface="Times New Roman" panose="02020603050405020304" pitchFamily="16" charset="0"/>
              </a:rPr>
              <a:t>Fig 3: result</a:t>
            </a:r>
            <a:endParaRPr lang="en-IN" dirty="0">
              <a:latin typeface="Times New Roman" panose="02020603050405020304" pitchFamily="16" charset="0"/>
              <a:cs typeface="Times New Roman" panose="02020603050405020304" pitchFamily="16" charset="0"/>
            </a:endParaRPr>
          </a:p>
        </p:txBody>
      </p:sp>
      <p:pic>
        <p:nvPicPr>
          <p:cNvPr id="6" name="Picture 5"/>
          <p:cNvPicPr>
            <a:picLocks noChangeAspect="1"/>
          </p:cNvPicPr>
          <p:nvPr/>
        </p:nvPicPr>
        <p:blipFill>
          <a:blip r:embed="rId2"/>
          <a:stretch>
            <a:fillRect/>
          </a:stretch>
        </p:blipFill>
        <p:spPr>
          <a:xfrm>
            <a:off x="4104208" y="3976057"/>
            <a:ext cx="5472608" cy="2657100"/>
          </a:xfrm>
          <a:prstGeom prst="rect">
            <a:avLst/>
          </a:prstGeom>
        </p:spPr>
      </p:pic>
      <p:sp>
        <p:nvSpPr>
          <p:cNvPr id="7" name="TextBox 6"/>
          <p:cNvSpPr txBox="1"/>
          <p:nvPr/>
        </p:nvSpPr>
        <p:spPr>
          <a:xfrm>
            <a:off x="6408464" y="6633157"/>
            <a:ext cx="1467068" cy="369332"/>
          </a:xfrm>
          <a:prstGeom prst="rect">
            <a:avLst/>
          </a:prstGeom>
          <a:noFill/>
        </p:spPr>
        <p:txBody>
          <a:bodyPr wrap="none" rtlCol="0">
            <a:spAutoFit/>
          </a:bodyPr>
          <a:lstStyle/>
          <a:p>
            <a:r>
              <a:rPr lang="en-US" dirty="0">
                <a:latin typeface="Times New Roman" panose="02020603050405020304" pitchFamily="16" charset="0"/>
                <a:cs typeface="Times New Roman" panose="02020603050405020304" pitchFamily="16" charset="0"/>
              </a:rPr>
              <a:t>Fig4:wellness</a:t>
            </a:r>
            <a:endParaRPr lang="en-IN" dirty="0">
              <a:latin typeface="Times New Roman" panose="02020603050405020304" pitchFamily="16" charset="0"/>
              <a:cs typeface="Times New Roman" panose="02020603050405020304" pitchFamily="1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References</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8675" name="Rectangle 2"/>
          <p:cNvSpPr/>
          <p:nvPr/>
        </p:nvSpPr>
        <p:spPr>
          <a:xfrm>
            <a:off x="503238" y="1563688"/>
            <a:ext cx="9070975" cy="5194300"/>
          </a:xfrm>
          <a:prstGeom prst="rect">
            <a:avLst/>
          </a:prstGeom>
          <a:noFill/>
          <a:ln w="9525">
            <a:noFill/>
          </a:ln>
        </p:spPr>
        <p:txBody>
          <a:bodyPr lIns="0" tIns="21240" rIns="0" bIns="0"/>
          <a:lstStyle/>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8676" name="Content Placeholder 2"/>
          <p:cNvSpPr txBox="1"/>
          <p:nvPr/>
        </p:nvSpPr>
        <p:spPr>
          <a:xfrm>
            <a:off x="287784" y="1537931"/>
            <a:ext cx="8677275" cy="5608637"/>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Times New Roman" panose="02020603050405020304" pitchFamily="16" charset="0"/>
                <a:cs typeface="Times New Roman" panose="02020603050405020304" pitchFamily="16" charset="0"/>
              </a:rPr>
              <a:t>Chawla, N. V., et al. (2002). "SMOTE: Synthetic Minority Over-sampling Technique." Journal of Artificial Intelligence Research, 16, 321-357.</a:t>
            </a:r>
            <a:endParaRPr lang="en-US" altLang="en-GB" sz="2000" dirty="0">
              <a:solidFill>
                <a:srgbClr val="000000"/>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pPr>
            <a:endParaRPr lang="en-US" altLang="en-GB" sz="2000" dirty="0">
              <a:solidFill>
                <a:srgbClr val="000000"/>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Times New Roman" panose="02020603050405020304" pitchFamily="16" charset="0"/>
                <a:cs typeface="Times New Roman" panose="02020603050405020304" pitchFamily="16" charset="0"/>
              </a:rPr>
              <a:t>Lundberg, S. M., &amp; Lee, S.-I. (2017). "A Unified Approach to Interpreting Model Predictions (SHAP)." Advances in Neural Information Processing Systems, 30.</a:t>
            </a:r>
            <a:endParaRPr lang="en-US" altLang="en-GB" sz="2000" dirty="0">
              <a:solidFill>
                <a:srgbClr val="000000"/>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pPr>
            <a:endParaRPr lang="en-US" altLang="en-GB" sz="2000" dirty="0">
              <a:solidFill>
                <a:srgbClr val="000000"/>
              </a:solidFill>
              <a:latin typeface="Times New Roman" panose="02020603050405020304" pitchFamily="16" charset="0"/>
              <a:cs typeface="Times New Roman" panose="02020603050405020304" pitchFamily="16" charset="0"/>
            </a:endParaRPr>
          </a:p>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Times New Roman" panose="02020603050405020304" pitchFamily="16" charset="0"/>
                <a:cs typeface="Times New Roman" panose="02020603050405020304" pitchFamily="16" charset="0"/>
              </a:rPr>
              <a:t>Kaggle Open Datasets (2024). Polycystic Ovary Syndrome (PCOS) Clinical Dataset.</a:t>
            </a:r>
            <a:endParaRPr lang="en-US" altLang="en-GB" sz="2000" dirty="0">
              <a:solidFill>
                <a:srgbClr val="000000"/>
              </a:solidFill>
              <a:latin typeface="Times New Roman" panose="02020603050405020304" pitchFamily="16" charset="0"/>
              <a:cs typeface="Times New Roman" panose="02020603050405020304" pitchFamily="16" charset="0"/>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
          <p:cNvSpPr/>
          <p:nvPr/>
        </p:nvSpPr>
        <p:spPr>
          <a:xfrm>
            <a:off x="647700" y="3057525"/>
            <a:ext cx="9070975" cy="1262063"/>
          </a:xfrm>
          <a:prstGeom prst="rect">
            <a:avLst/>
          </a:prstGeom>
          <a:noFill/>
          <a:ln w="9525">
            <a:noFill/>
          </a:ln>
        </p:spPr>
        <p:txBody>
          <a:bodyPr lIns="0" tIns="31680" rIns="0" bIns="0" anchor="ctr" anchorCtr="0"/>
          <a:lstStyle/>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Thank You...!!</a:t>
            </a:r>
            <a:endParaRPr lang="en-IN" altLang="en-US" sz="3600" b="1" dirty="0">
              <a:solidFill>
                <a:srgbClr val="000000"/>
              </a:solidFill>
              <a:latin typeface="Times New Roman" panose="02020603050405020304" pitchFamily="16" charset="0"/>
              <a:ea typeface="DejaVu Sans"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6219</Words>
  <Application>WPS Presentation</Application>
  <PresentationFormat>Custom</PresentationFormat>
  <Paragraphs>150</Paragraphs>
  <Slides>16</Slides>
  <Notes>12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16</vt:i4>
      </vt:variant>
    </vt:vector>
  </HeadingPairs>
  <TitlesOfParts>
    <vt:vector size="32" baseType="lpstr">
      <vt:lpstr>Arial</vt:lpstr>
      <vt:lpstr>SimSun</vt:lpstr>
      <vt:lpstr>Wingdings</vt:lpstr>
      <vt:lpstr>Trebuchet MS</vt:lpstr>
      <vt:lpstr>Wingdings 3</vt:lpstr>
      <vt:lpstr>Arial</vt:lpstr>
      <vt:lpstr>Times New Roman</vt:lpstr>
      <vt:lpstr>DejaVu Sans</vt:lpstr>
      <vt:lpstr>Calibri</vt:lpstr>
      <vt:lpstr>Noto Sans CJK SC Regular</vt:lpstr>
      <vt:lpstr>Segoe Print</vt:lpstr>
      <vt:lpstr>Source Sans Pro</vt:lpstr>
      <vt:lpstr>Microsoft YaHei</vt:lpstr>
      <vt:lpstr>Arial Unicode MS</vt:lpstr>
      <vt:lpstr>Facet</vt:lpstr>
      <vt:lpstr>1_Facet</vt:lpstr>
      <vt:lpstr>PowerPoint 演示文稿</vt:lpstr>
      <vt:lpstr>PowerPoint 演示文稿</vt:lpstr>
      <vt:lpstr>Sustainable Development Goals (SDG) mapped</vt:lpstr>
      <vt:lpstr>PowerPoint 演示文稿</vt:lpstr>
      <vt:lpstr>PowerPoint 演示文稿</vt:lpstr>
      <vt:lpstr>PowerPoint 演示文稿</vt:lpstr>
      <vt:lpstr>Objectives</vt:lpstr>
      <vt:lpstr>Problem Definition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NISHIGANDHA SAWANT</cp:lastModifiedBy>
  <cp:revision>25</cp:revision>
  <dcterms:created xsi:type="dcterms:W3CDTF">2017-10-25T08:22:00Z</dcterms:created>
  <dcterms:modified xsi:type="dcterms:W3CDTF">2026-10-16T04:11:04Z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y fmtid="{D5CDD505-2E9C-101B-9397-08002B2CF9AE}" pid="12" name="ICV">
    <vt:lpwstr>D3CCD273CD21451E9BAD2E2FCFA678F8_13</vt:lpwstr>
  </property>
  <property fmtid="{D5CDD505-2E9C-101B-9397-08002B2CF9AE}" pid="13" name="KSOProductBuildVer">
    <vt:lpwstr>2057-12.2.0.23206</vt:lpwstr>
  </property>
</Properties>
</file>